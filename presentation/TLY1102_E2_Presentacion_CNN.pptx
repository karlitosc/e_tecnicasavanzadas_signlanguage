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7BA20-FACC-4110-8DA4-6A281FF43C30}" v="12" dt="2026-10-12T23:49:10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r>
              <a:rPr lang="es-ES" sz="1350" b="1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Métricas en el conjunto de prueba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MLP (E1)</c:v>
          </c:tx>
          <c:spPr>
            <a:solidFill>
              <a:srgbClr val="8BA3AA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B343D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F1-score</c:v>
              </c:pt>
            </c:strLit>
          </c:cat>
          <c:val>
            <c:numLit>
              <c:formatCode>0"%"</c:formatCode>
              <c:ptCount val="4"/>
              <c:pt idx="0">
                <c:v>93.43</c:v>
              </c:pt>
              <c:pt idx="1">
                <c:v>93.74</c:v>
              </c:pt>
              <c:pt idx="2">
                <c:v>91.94</c:v>
              </c:pt>
              <c:pt idx="3">
                <c:v>92.26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85D-40E0-B7FB-7C16842D7CE7}"/>
            </c:ext>
          </c:extLst>
        </c:ser>
        <c:ser>
          <c:idx val="1"/>
          <c:order val="1"/>
          <c:tx>
            <c:v>CNN (E2)</c:v>
          </c:tx>
          <c:spPr>
            <a:solidFill>
              <a:srgbClr val="167C7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B343D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F1-score</c:v>
              </c:pt>
            </c:strLit>
          </c:cat>
          <c:val>
            <c:numLit>
              <c:formatCode>0"%"</c:formatCode>
              <c:ptCount val="4"/>
              <c:pt idx="0">
                <c:v>96.93</c:v>
              </c:pt>
              <c:pt idx="1">
                <c:v>97.26</c:v>
              </c:pt>
              <c:pt idx="2">
                <c:v>95.93</c:v>
              </c:pt>
              <c:pt idx="3">
                <c:v>96.33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85D-40E0-B7FB-7C16842D7CE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DEDC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5DEDC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50112"/>
        <c:crosses val="autoZero"/>
        <c:crossBetween val="between"/>
        <c:majorUnit val="20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1B343D"/>
              </a:solidFill>
              <a:latin typeface="Bitstream Charter"/>
              <a:ea typeface="Bitstream Charter"/>
              <a:cs typeface="Bitstream Charter"/>
            </a:defRPr>
          </a:pPr>
          <a:endParaRPr lang="es-E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20 segundos.</a:t>
            </a:r>
          </a:p>
          <a:p>
            <a:r>
              <a:t>Presenta el objetivo: entrenar una CNN para reconocer cinco vocales en imágenes de señas y comparar sus resultados con el MLP de la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1 minuto.</a:t>
            </a:r>
          </a:p>
          <a:p>
            <a:r>
              <a:t>Describe el problema como clasificación multiclase de imágenes. La variante propia son las cinco vocales A, E, I, O y U. Explica que se mantuvo la misma variante de la E1 para hacer una comparación directa. Las etiquetas se remapearon de los códigos originales a 0–4.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55 segundos.</a:t>
            </a:r>
          </a:p>
          <a:p>
            <a:r>
              <a:t>Tras filtrar las vocales, se obtuvieron 5.602 imágenes desde el archivo de entrenamiento. Se separaron 4.481 para entrenamiento y 1.121 para validación, de forma estratificada y con semilla 29. El CSV de prueba aporta 1.629 imágenes y se reservó para la evaluación final. Los píxeles se dividieron por 255 y cada imagen quedó como 28 por 28 por un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1 minuto y 20 segundos.</a:t>
            </a:r>
          </a:p>
          <a:p>
            <a:r>
              <a:t>La primera convolución tiene 32 filtros de 3 por 3 y la segunda 64. ReLU introduce no linealidad. MaxPooling 2 por 2 reduce progresivamente las dimensiones; después Flatten convierte los mapas en vector y una capa densa de 64 unidades combina la información. Softmax produce cinco probabilidades. Adam actualiza los pesos y sparse categorical crossentropy se ajusta a etiquetas enteras. Se usaron 10 épocas y batch de 32. La arquitectura tiene 219.909 parámetros. No se añadió regularización porque la profesora indicó que esta evaluación debía mostrar resultados sin esas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1 minuto y 15 segundos.</a:t>
            </a:r>
          </a:p>
          <a:p>
            <a:r>
              <a:t>Explica que la accuracy de entrenamiento alcanzó 100 por ciento desde la época 3 y la de validación desde la época 2. La pérdida disminuyó durante el aprendizaje. Para el resultado final usamos el conjunto de prueba reservado: 96,93 por ciento de accuracy, precision macro 97,26, recall macro 95,93 y F1 macro 96,33. Son 1.579 aciertos de 1.629 imágenes. No confundas la accuracy de validación con la accuracy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1 minuto y 15 segundos.</a:t>
            </a:r>
          </a:p>
          <a:p>
            <a:r>
              <a:t>Lee la matriz por filas: las filas son las clases reales y las columnas las predichas. A, E, I y U quedaron correctamente clasificadas en los ejemplos del conjunto de prueba; la clase O tuvo 196 aciertos y 50 errores: 17 se predijeron como A, 15 como E y 18 como I. En total, los cinco errores seleccionados en la figura coinciden con ese patrón. La precisión de O es 1,00, pero su recall es 0,80: cuando el modelo predijo O acertó, pero dejó escapar varias 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1 minuto y 40 segundos.</a:t>
            </a:r>
          </a:p>
          <a:p>
            <a:r>
              <a:t>La CNN obtuvo 3,50 puntos porcentuales más de accuracy y 4,07 puntos más de F1 macro. También mejora precision y recall macro. Tiene 219.909 parámetros frente a 109.061 del MLP, y tardó 81,86 segundos frente a 6,02 segundos. El MLP es más pequeño y rápido; la CNN aprovecha la estructura espacial local de las imágenes y rindió mejor en esta ejecución. Hay una diferencia de optimizador, SGD para el MLP y Adam para la CNN, así que no atribuyas todo el cambio a la arquitectura por sí sola. Ambos entrenaron diez épocas y batch 32 con la misma variante y particiones.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1 minuto.</a:t>
            </a:r>
          </a:p>
          <a:p>
            <a:r>
              <a:t>La fila superior corresponde a la primera convolución: conserva 28 por 28 píxeles. La fila inferior corresponde a la segunda convolución, con 14 por 14 antes del segundo pooling. Cada filtro responde a rasgos diferentes. Al avanzar por la red, la representación espacial se reduce y combina información más compleja. Este ejemplo es una O que la red predijo como E; los mapas ayudan a inspeccionar las activaciones, pero no asignan por sí solos una etiqueta semántica a cada filtro.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1 minuto.</a:t>
            </a:r>
          </a:p>
          <a:p>
            <a:r>
              <a:t>Grad-CAM se generó para una imagen de cada clase; las cinco predicciones de esos ejemplos coincidieron con la clase objetivo. El mapa resalta zonas de mayor contribución a la puntuación, sin ser una explicación causal completa. Concluye: la CNN superó al MLP en el conjunto de prueba, aunque con más parámetros y tiempo; la clase O concentra las confusiones. Se respetó la indicación de no usar regularización.</a:t>
            </a:r>
          </a:p>
          <a:p>
            <a:endParaRPr/>
          </a:p>
          <a:p>
            <a:r>
              <a:t>Preguntas para preparar:</a:t>
            </a:r>
          </a:p>
          <a:p>
            <a:r>
              <a:t>1. ¿Por qué una CNN? Porque aprende patrones locales y conserva la estructura espacial de la imagen.</a:t>
            </a:r>
          </a:p>
          <a:p>
            <a:r>
              <a:t>2. ¿Por qué sparse categorical crossentropy? Porque las etiquetas se mantienen como enteros entre 0 y 4.</a:t>
            </a:r>
          </a:p>
          <a:p>
            <a:r>
              <a:t>3. ¿Por qué no usar solo la accuracy de validación? Porque la evaluación final debe usar el conjunto de prueba reservado; aquí la accuracy fue menor que en validación.</a:t>
            </a:r>
          </a:p>
          <a:p>
            <a:r>
              <a:t>4. ¿Qué muestra la matriz de confusión? La mayoría de errores corresponde a O predicha como A, E o I.</a:t>
            </a:r>
          </a:p>
          <a:p>
            <a:r>
              <a:t>5. ¿Por qué la comparación no demuestra que la arquitectura sea la única causa? Los optimizadores difieren: SGD en el MLP y Adam en la CNN.</a:t>
            </a:r>
          </a:p>
          <a:p>
            <a:r>
              <a:t>6. ¿Qué aporta Grad-CAM? Señala regiones activadas para una clase en ejemplos específicos; no ofrece una explicación causal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D315414-5157-41F9-BEEC-8E2EE8AC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2B99222-B064-48CD-A41D-92C3D566C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EC240E0-E214-44F1-AAF1-4A86A31F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BA6A643-76C4-48B1-A34F-2DF6FC70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28AC9F0-1877-4A14-9AB5-816D0AB0B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BD7FF8A-43C8-40AB-A782-2500F8EF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593FCCD-F2B3-4A70-8FC9-04EE917C1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9B3C9F9-60EF-44C5-91AE-C2D012DEF8C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F90FEC-0224-4810-98C0-CEF1FBB4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B0C5C9D-A3D3-4F8B-B88C-6085A54D3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F6FE514-4996-4C1C-8CC9-B994C594D139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85725" cy="4667250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5B1D6C-FF45-4B8C-B342-F723D95A3CAA}"/>
              </a:ext>
            </a:extLst>
          </p:cNvPr>
          <p:cNvSpPr>
            <a:spLocks noGrp="1"/>
          </p:cNvSpPr>
          <p:nvPr/>
        </p:nvSpPr>
        <p:spPr>
          <a:xfrm>
            <a:off x="1066800" y="1123950"/>
            <a:ext cx="647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9BD0C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650" b="1" i="0">
                <a:solidFill>
                  <a:srgbClr val="9BD0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9BD0C8"/>
                </a:solidFill>
                <a:latin typeface="Bitstream Charter"/>
                <a:ea typeface="Bitstream Charter"/>
                <a:cs typeface="Bitstream Charter"/>
              </a:rPr>
              <a:t>TLY1102 / Evaluación 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F52F54-569F-419D-92CD-8CD14F2AC8A0}"/>
              </a:ext>
            </a:extLst>
          </p:cNvPr>
          <p:cNvSpPr>
            <a:spLocks noGrp="1"/>
          </p:cNvSpPr>
          <p:nvPr/>
        </p:nvSpPr>
        <p:spPr>
          <a:xfrm>
            <a:off x="1028700" y="1952625"/>
            <a:ext cx="88582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43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43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 i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Clasificación</a:t>
            </a:r>
            <a:r>
              <a:rPr sz="4350" b="1" i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4350" b="1" i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señas</a:t>
            </a:r>
            <a:endParaRPr lang="es-ES" sz="4350" b="1" i="0" dirty="0" err="1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defRPr sz="43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 i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 </a:t>
            </a:r>
            <a:r>
              <a:rPr sz="43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CNN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3AAC0A-E415-4D88-A089-6B29BF514A23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5715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025" b="0" i="0">
                <a:solidFill>
                  <a:srgbClr val="D8E4E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025" b="0" i="0">
                <a:solidFill>
                  <a:srgbClr val="D8E4E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i="0">
                <a:solidFill>
                  <a:srgbClr val="D8E4E4"/>
                </a:solidFill>
                <a:latin typeface="Bitstream Charter"/>
                <a:ea typeface="Bitstream Charter"/>
                <a:cs typeface="Bitstream Charter"/>
              </a:rPr>
              <a:t>Sign Language MNIST</a:t>
            </a:r>
          </a:p>
          <a:p>
            <a:pPr algn="l">
              <a:defRPr sz="2025" b="0" i="0">
                <a:solidFill>
                  <a:srgbClr val="D8E4E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i="0">
                <a:solidFill>
                  <a:srgbClr val="D8E4E4"/>
                </a:solidFill>
                <a:latin typeface="Bitstream Charter"/>
                <a:ea typeface="Bitstream Charter"/>
                <a:cs typeface="Bitstream Charter"/>
              </a:rPr>
              <a:t>Vocales A, E, I, O y U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BFF4D81-90DB-495F-90CD-7858371FFC48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4857750" cy="19050"/>
          </a:xfrm>
          <a:prstGeom prst="rect">
            <a:avLst/>
          </a:prstGeom>
          <a:solidFill>
            <a:srgbClr val="48616A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4E6D72-9729-498E-87C2-F61E8910BC4E}"/>
              </a:ext>
            </a:extLst>
          </p:cNvPr>
          <p:cNvSpPr>
            <a:spLocks noGrp="1"/>
          </p:cNvSpPr>
          <p:nvPr/>
        </p:nvSpPr>
        <p:spPr>
          <a:xfrm>
            <a:off x="1066800" y="54102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575" b="0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Carlos Navarrete</a:t>
            </a:r>
          </a:p>
        </p:txBody>
      </p:sp>
    </p:spTree>
    <p:extLst>
      <p:ext uri="{BB962C8B-B14F-4D97-AF65-F5344CB8AC3E}">
        <p14:creationId xmlns:p14="http://schemas.microsoft.com/office/powerpoint/2010/main" val="740899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42CF1779-2B5B-491F-AA4C-0D961B00A91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Problema y variante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F86E3D-BC56-43C2-995D-F6AAF5D53F6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28575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C80AD65-ACCE-4A8E-90A4-2676F392193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1E4BE8-FF57-4D2B-8392-E450A5A34A13}"/>
              </a:ext>
            </a:extLst>
          </p:cNvPr>
          <p:cNvSpPr>
            <a:spLocks noGrp="1"/>
          </p:cNvSpPr>
          <p:nvPr/>
        </p:nvSpPr>
        <p:spPr>
          <a:xfrm>
            <a:off x="10572750" y="6486525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02 / 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77875C-58C1-4A64-A217-972FED413755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6572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3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3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La tarea consiste en reconocer la vocal representada por una imagen de una seña.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62127EF-6783-43ED-8E90-A84C29B8D94C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638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8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Se conserva la variante de la E1 para comparar el MLP y la CNN sobre las mismas cinco clases.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E26688-DAE8-44B8-A7E5-B56A26882F2B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371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5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Sign Language MNIST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18FE194-7C7E-431C-AC85-62EFEEA2772E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5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Imágenes en escala de grises, 28 × 28 píxeles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A18EDB0-6409-4493-B5DA-C748A0E3B8B4}"/>
              </a:ext>
            </a:extLst>
          </p:cNvPr>
          <p:cNvSpPr>
            <a:spLocks noGrp="1"/>
          </p:cNvSpPr>
          <p:nvPr/>
        </p:nvSpPr>
        <p:spPr>
          <a:xfrm>
            <a:off x="7334250" y="2038350"/>
            <a:ext cx="68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232BEAF-A935-4194-A7D7-803483CB7EB9}"/>
              </a:ext>
            </a:extLst>
          </p:cNvPr>
          <p:cNvSpPr>
            <a:spLocks noGrp="1"/>
          </p:cNvSpPr>
          <p:nvPr/>
        </p:nvSpPr>
        <p:spPr>
          <a:xfrm>
            <a:off x="7448550" y="2781300"/>
            <a:ext cx="45720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336F952-CBB9-47F5-904E-215317032E07}"/>
              </a:ext>
            </a:extLst>
          </p:cNvPr>
          <p:cNvSpPr>
            <a:spLocks noGrp="1"/>
          </p:cNvSpPr>
          <p:nvPr/>
        </p:nvSpPr>
        <p:spPr>
          <a:xfrm>
            <a:off x="7296150" y="29051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clase 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E52CE50-C420-4058-B69F-4091EFC141A4}"/>
              </a:ext>
            </a:extLst>
          </p:cNvPr>
          <p:cNvSpPr>
            <a:spLocks noGrp="1"/>
          </p:cNvSpPr>
          <p:nvPr/>
        </p:nvSpPr>
        <p:spPr>
          <a:xfrm>
            <a:off x="8172450" y="2038350"/>
            <a:ext cx="68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rPr>
              <a:t>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06C2AC8-977E-4DB0-90ED-17CEBEA5AE36}"/>
              </a:ext>
            </a:extLst>
          </p:cNvPr>
          <p:cNvSpPr>
            <a:spLocks noGrp="1"/>
          </p:cNvSpPr>
          <p:nvPr/>
        </p:nvSpPr>
        <p:spPr>
          <a:xfrm>
            <a:off x="8286750" y="2781300"/>
            <a:ext cx="45720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E70E181-6453-4493-8E27-C847D787EFF2}"/>
              </a:ext>
            </a:extLst>
          </p:cNvPr>
          <p:cNvSpPr>
            <a:spLocks noGrp="1"/>
          </p:cNvSpPr>
          <p:nvPr/>
        </p:nvSpPr>
        <p:spPr>
          <a:xfrm>
            <a:off x="8134350" y="29051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clase 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3567524-5BA8-4256-8BCE-B4F8354635AC}"/>
              </a:ext>
            </a:extLst>
          </p:cNvPr>
          <p:cNvSpPr>
            <a:spLocks noGrp="1"/>
          </p:cNvSpPr>
          <p:nvPr/>
        </p:nvSpPr>
        <p:spPr>
          <a:xfrm>
            <a:off x="9010650" y="2038350"/>
            <a:ext cx="68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rPr>
              <a:t>I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7635DEA-9CCC-4788-830E-D41B571724F3}"/>
              </a:ext>
            </a:extLst>
          </p:cNvPr>
          <p:cNvSpPr>
            <a:spLocks noGrp="1"/>
          </p:cNvSpPr>
          <p:nvPr/>
        </p:nvSpPr>
        <p:spPr>
          <a:xfrm>
            <a:off x="9124950" y="2781300"/>
            <a:ext cx="45720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FA572FE-3AB4-41B5-821D-7025B5A00D24}"/>
              </a:ext>
            </a:extLst>
          </p:cNvPr>
          <p:cNvSpPr>
            <a:spLocks noGrp="1"/>
          </p:cNvSpPr>
          <p:nvPr/>
        </p:nvSpPr>
        <p:spPr>
          <a:xfrm>
            <a:off x="8972550" y="29051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clase 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50568D3-5A21-4B1F-91A7-1CB751B591EE}"/>
              </a:ext>
            </a:extLst>
          </p:cNvPr>
          <p:cNvSpPr>
            <a:spLocks noGrp="1"/>
          </p:cNvSpPr>
          <p:nvPr/>
        </p:nvSpPr>
        <p:spPr>
          <a:xfrm>
            <a:off x="9848850" y="2038350"/>
            <a:ext cx="68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3525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3525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rPr>
              <a:t>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C279F55-3FA8-4D79-8C93-31446235117C}"/>
              </a:ext>
            </a:extLst>
          </p:cNvPr>
          <p:cNvSpPr>
            <a:spLocks noGrp="1"/>
          </p:cNvSpPr>
          <p:nvPr/>
        </p:nvSpPr>
        <p:spPr>
          <a:xfrm>
            <a:off x="9963150" y="2781300"/>
            <a:ext cx="45720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330E31E-D940-4EF3-9D5A-921C5152BEEF}"/>
              </a:ext>
            </a:extLst>
          </p:cNvPr>
          <p:cNvSpPr>
            <a:spLocks noGrp="1"/>
          </p:cNvSpPr>
          <p:nvPr/>
        </p:nvSpPr>
        <p:spPr>
          <a:xfrm>
            <a:off x="9810750" y="29051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clase 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E4AC831-6DA4-44BF-B80C-1E289AC08046}"/>
              </a:ext>
            </a:extLst>
          </p:cNvPr>
          <p:cNvSpPr>
            <a:spLocks noGrp="1"/>
          </p:cNvSpPr>
          <p:nvPr/>
        </p:nvSpPr>
        <p:spPr>
          <a:xfrm>
            <a:off x="10687050" y="2038350"/>
            <a:ext cx="68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rPr>
              <a:t>U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D926028-9A1B-465E-BDB3-CBB5530693F4}"/>
              </a:ext>
            </a:extLst>
          </p:cNvPr>
          <p:cNvSpPr>
            <a:spLocks noGrp="1"/>
          </p:cNvSpPr>
          <p:nvPr/>
        </p:nvSpPr>
        <p:spPr>
          <a:xfrm>
            <a:off x="10801350" y="2781300"/>
            <a:ext cx="45720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5E4613D-584B-413E-A993-1DDE44BAB7E1}"/>
              </a:ext>
            </a:extLst>
          </p:cNvPr>
          <p:cNvSpPr>
            <a:spLocks noGrp="1"/>
          </p:cNvSpPr>
          <p:nvPr/>
        </p:nvSpPr>
        <p:spPr>
          <a:xfrm>
            <a:off x="10648950" y="29051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clase 4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8C93E50-F2EA-4D07-8CBF-80A6F2DFAB20}"/>
              </a:ext>
            </a:extLst>
          </p:cNvPr>
          <p:cNvSpPr>
            <a:spLocks noGrp="1"/>
          </p:cNvSpPr>
          <p:nvPr/>
        </p:nvSpPr>
        <p:spPr>
          <a:xfrm>
            <a:off x="7334250" y="3790950"/>
            <a:ext cx="400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4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Etiquetas originales 0, 4, 8, 14 y 20 remapeadas a índices 0–4.</a:t>
            </a:r>
          </a:p>
        </p:txBody>
      </p:sp>
    </p:spTree>
    <p:extLst>
      <p:ext uri="{BB962C8B-B14F-4D97-AF65-F5344CB8AC3E}">
        <p14:creationId xmlns:p14="http://schemas.microsoft.com/office/powerpoint/2010/main" val="173772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DFFE137A-4F8B-47D4-9AE2-8C9D045367D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Preparación de los datos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74314C2-8CED-4CFA-974C-DE38831C3FB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28575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4F8FD5-D2B9-400D-86D0-6764C1D8E0E5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EE9BD35-D768-4A87-A356-4D575F5ED253}"/>
              </a:ext>
            </a:extLst>
          </p:cNvPr>
          <p:cNvSpPr>
            <a:spLocks noGrp="1"/>
          </p:cNvSpPr>
          <p:nvPr/>
        </p:nvSpPr>
        <p:spPr>
          <a:xfrm>
            <a:off x="10572750" y="6486525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03 / 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262C0B-08F2-4C57-B1AF-502C884D5C46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10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10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Las imágenes conservan su estructura espacial para entrar a la CNN.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0463822-C26D-4B79-A1A2-4287D6A83CB0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4650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4650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 i="0">
                <a:solidFill>
                  <a:srgbClr val="167C78"/>
                </a:solidFill>
                <a:latin typeface="Bitstream Charter"/>
                <a:ea typeface="Bitstream Charter"/>
                <a:cs typeface="Bitstream Charter"/>
              </a:rPr>
              <a:t>4.481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4C1D243-5115-4B4F-BFF3-7F4285BFD235}"/>
              </a:ext>
            </a:extLst>
          </p:cNvPr>
          <p:cNvSpPr>
            <a:spLocks noGrp="1"/>
          </p:cNvSpPr>
          <p:nvPr/>
        </p:nvSpPr>
        <p:spPr>
          <a:xfrm>
            <a:off x="895350" y="32194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entrenamiento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28A36F6-B27C-45C3-886C-F2B225543735}"/>
              </a:ext>
            </a:extLst>
          </p:cNvPr>
          <p:cNvSpPr>
            <a:spLocks noGrp="1"/>
          </p:cNvSpPr>
          <p:nvPr/>
        </p:nvSpPr>
        <p:spPr>
          <a:xfrm>
            <a:off x="3905250" y="2552700"/>
            <a:ext cx="9525" cy="109537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62B2213-60AA-4237-B239-C7F3E7378A4E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4650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4650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rPr>
              <a:t>1.121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D87B27-CF26-4BEA-ABE6-C8E5D7132FE4}"/>
              </a:ext>
            </a:extLst>
          </p:cNvPr>
          <p:cNvSpPr>
            <a:spLocks noGrp="1"/>
          </p:cNvSpPr>
          <p:nvPr/>
        </p:nvSpPr>
        <p:spPr>
          <a:xfrm>
            <a:off x="4524375" y="32194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validación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6369E83-F3CA-4A3F-8203-E72420BD364F}"/>
              </a:ext>
            </a:extLst>
          </p:cNvPr>
          <p:cNvSpPr>
            <a:spLocks noGrp="1"/>
          </p:cNvSpPr>
          <p:nvPr/>
        </p:nvSpPr>
        <p:spPr>
          <a:xfrm>
            <a:off x="7534275" y="2552700"/>
            <a:ext cx="9525" cy="109537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9232ED5-0266-48C1-BE6A-100D884DE516}"/>
              </a:ext>
            </a:extLst>
          </p:cNvPr>
          <p:cNvSpPr>
            <a:spLocks noGrp="1"/>
          </p:cNvSpPr>
          <p:nvPr/>
        </p:nvSpPr>
        <p:spPr>
          <a:xfrm>
            <a:off x="8153400" y="238125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46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46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1.629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5D49E65-F53C-4E74-86EF-9528379F077B}"/>
              </a:ext>
            </a:extLst>
          </p:cNvPr>
          <p:cNvSpPr>
            <a:spLocks noGrp="1"/>
          </p:cNvSpPr>
          <p:nvPr/>
        </p:nvSpPr>
        <p:spPr>
          <a:xfrm>
            <a:off x="8153400" y="32194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prueba reservada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BBCFD7E-CEAE-45DE-BD43-B83C85D1F20A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1028700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A0B2DED-2063-4BAA-8948-C392065FD79A}"/>
              </a:ext>
            </a:extLst>
          </p:cNvPr>
          <p:cNvSpPr>
            <a:spLocks noGrp="1"/>
          </p:cNvSpPr>
          <p:nvPr/>
        </p:nvSpPr>
        <p:spPr>
          <a:xfrm>
            <a:off x="952500" y="4400550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28 × 28 × 1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6DF3A96-52AC-41A0-9F23-43478C2AB9B7}"/>
              </a:ext>
            </a:extLst>
          </p:cNvPr>
          <p:cNvSpPr>
            <a:spLocks noGrp="1"/>
          </p:cNvSpPr>
          <p:nvPr/>
        </p:nvSpPr>
        <p:spPr>
          <a:xfrm>
            <a:off x="952500" y="488632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forma de entrada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26E1513-02C4-4886-AFF5-A9E6D31959BC}"/>
              </a:ext>
            </a:extLst>
          </p:cNvPr>
          <p:cNvSpPr>
            <a:spLocks noGrp="1"/>
          </p:cNvSpPr>
          <p:nvPr/>
        </p:nvSpPr>
        <p:spPr>
          <a:xfrm>
            <a:off x="3714750" y="44005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0–1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AAA935B-83E6-4447-A144-94C59AD78A37}"/>
              </a:ext>
            </a:extLst>
          </p:cNvPr>
          <p:cNvSpPr>
            <a:spLocks noGrp="1"/>
          </p:cNvSpPr>
          <p:nvPr/>
        </p:nvSpPr>
        <p:spPr>
          <a:xfrm>
            <a:off x="3714750" y="48863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píxeles normalizados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677EE07-82E9-4854-8E2C-6DF70356740B}"/>
              </a:ext>
            </a:extLst>
          </p:cNvPr>
          <p:cNvSpPr>
            <a:spLocks noGrp="1"/>
          </p:cNvSpPr>
          <p:nvPr/>
        </p:nvSpPr>
        <p:spPr>
          <a:xfrm>
            <a:off x="6667500" y="44005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80 / 20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10BD605-C754-4F27-8988-BEC3708D2BAA}"/>
              </a:ext>
            </a:extLst>
          </p:cNvPr>
          <p:cNvSpPr>
            <a:spLocks noGrp="1"/>
          </p:cNvSpPr>
          <p:nvPr/>
        </p:nvSpPr>
        <p:spPr>
          <a:xfrm>
            <a:off x="6667500" y="488632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split estratificado train / val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526BEE5-562E-4600-85FC-A5891104D4B1}"/>
              </a:ext>
            </a:extLst>
          </p:cNvPr>
          <p:cNvSpPr>
            <a:spLocks noGrp="1"/>
          </p:cNvSpPr>
          <p:nvPr/>
        </p:nvSpPr>
        <p:spPr>
          <a:xfrm>
            <a:off x="952500" y="565785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5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La prueba se mantuvo separada hasta la evaluación final.</a:t>
            </a:r>
          </a:p>
        </p:txBody>
      </p:sp>
    </p:spTree>
    <p:extLst>
      <p:ext uri="{BB962C8B-B14F-4D97-AF65-F5344CB8AC3E}">
        <p14:creationId xmlns:p14="http://schemas.microsoft.com/office/powerpoint/2010/main" val="197152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-title">
            <a:extLst>
              <a:ext uri="{FF2B5EF4-FFF2-40B4-BE49-F238E27FC236}">
                <a16:creationId xmlns:a16="http://schemas.microsoft.com/office/drawing/2014/main" id="{42206DB7-9557-4580-84C7-48DA61F97CC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Arquitectura de la CNN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54FFF00-F49A-4204-B4EE-CCA4DCF0636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28575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7E25BC-5DC2-4D48-975B-B91AF96AC1F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6319A64-FECD-4C34-96E1-85935D7C717B}"/>
              </a:ext>
            </a:extLst>
          </p:cNvPr>
          <p:cNvSpPr>
            <a:spLocks noGrp="1"/>
          </p:cNvSpPr>
          <p:nvPr/>
        </p:nvSpPr>
        <p:spPr>
          <a:xfrm>
            <a:off x="10572750" y="6486525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04 / 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DE504B1-183D-48ED-BFD9-02D561164828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8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Dos bloques convolucionales extraen patrones; la salida asigna una probabilidad a cada vocal.</a:t>
            </a:r>
          </a:p>
        </p:txBody>
      </p:sp>
      <p:sp>
        <p:nvSpPr>
          <p:cNvPr id="7" name="layer-1">
            <a:extLst>
              <a:ext uri="{FF2B5EF4-FFF2-40B4-BE49-F238E27FC236}">
                <a16:creationId xmlns:a16="http://schemas.microsoft.com/office/drawing/2014/main" id="{4381E227-D9F9-4354-9C45-4C37EBF0432F}"/>
              </a:ext>
            </a:extLst>
          </p:cNvPr>
          <p:cNvSpPr>
            <a:spLocks noGrp="1"/>
          </p:cNvSpPr>
          <p:nvPr/>
        </p:nvSpPr>
        <p:spPr>
          <a:xfrm>
            <a:off x="619125" y="2505075"/>
            <a:ext cx="1409700" cy="1571625"/>
          </a:xfrm>
          <a:prstGeom prst="rect">
            <a:avLst/>
          </a:prstGeom>
          <a:solidFill>
            <a:srgbClr val="EAF0F2"/>
          </a:solidFill>
          <a:ln w="9525">
            <a:solidFill>
              <a:srgbClr val="167C78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1137D7B-1563-4F6B-A71C-43F0E3BF3454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Entrada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6B41DD-9C2A-4E97-8DB8-DF910D4A26E8}"/>
              </a:ext>
            </a:extLst>
          </p:cNvPr>
          <p:cNvSpPr>
            <a:spLocks noGrp="1"/>
          </p:cNvSpPr>
          <p:nvPr/>
        </p:nvSpPr>
        <p:spPr>
          <a:xfrm>
            <a:off x="695325" y="3248025"/>
            <a:ext cx="1257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28×28×1</a:t>
            </a: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3B950593-78C3-4FA7-BA80-5BEEC236ADDB}"/>
              </a:ext>
            </a:extLst>
          </p:cNvPr>
          <p:cNvSpPr>
            <a:spLocks noGrp="1"/>
          </p:cNvSpPr>
          <p:nvPr/>
        </p:nvSpPr>
        <p:spPr>
          <a:xfrm>
            <a:off x="2076450" y="3171825"/>
            <a:ext cx="180975" cy="209550"/>
          </a:xfrm>
          <a:prstGeom prst="rightArrow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11" name="layer-2">
            <a:extLst>
              <a:ext uri="{FF2B5EF4-FFF2-40B4-BE49-F238E27FC236}">
                <a16:creationId xmlns:a16="http://schemas.microsoft.com/office/drawing/2014/main" id="{18C17ED9-6F14-4B5C-9C31-73A22B60CC87}"/>
              </a:ext>
            </a:extLst>
          </p:cNvPr>
          <p:cNvSpPr>
            <a:spLocks noGrp="1"/>
          </p:cNvSpPr>
          <p:nvPr/>
        </p:nvSpPr>
        <p:spPr>
          <a:xfrm>
            <a:off x="2295525" y="2505075"/>
            <a:ext cx="1409700" cy="1571625"/>
          </a:xfrm>
          <a:prstGeom prst="rect">
            <a:avLst/>
          </a:prstGeom>
          <a:solidFill>
            <a:srgbClr val="E6F1EE"/>
          </a:solidFill>
          <a:ln w="9525">
            <a:solidFill>
              <a:srgbClr val="167C78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EEC4E9F-7E79-43D0-A4EC-39754620AA4B}"/>
              </a:ext>
            </a:extLst>
          </p:cNvPr>
          <p:cNvSpPr>
            <a:spLocks noGrp="1"/>
          </p:cNvSpPr>
          <p:nvPr/>
        </p:nvSpPr>
        <p:spPr>
          <a:xfrm>
            <a:off x="2381250" y="27813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Conv2D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277AD9D-50A3-4517-8907-790A215B74E2}"/>
              </a:ext>
            </a:extLst>
          </p:cNvPr>
          <p:cNvSpPr>
            <a:spLocks noGrp="1"/>
          </p:cNvSpPr>
          <p:nvPr/>
        </p:nvSpPr>
        <p:spPr>
          <a:xfrm>
            <a:off x="2371725" y="3248025"/>
            <a:ext cx="1257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32 filtros</a:t>
            </a:r>
          </a:p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3×3 · ReLU</a:t>
            </a: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5027A09F-AF02-47F8-B62C-EF143014F690}"/>
              </a:ext>
            </a:extLst>
          </p:cNvPr>
          <p:cNvSpPr>
            <a:spLocks noGrp="1"/>
          </p:cNvSpPr>
          <p:nvPr/>
        </p:nvSpPr>
        <p:spPr>
          <a:xfrm>
            <a:off x="3752850" y="3171825"/>
            <a:ext cx="180975" cy="209550"/>
          </a:xfrm>
          <a:prstGeom prst="rightArrow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15" name="layer-3">
            <a:extLst>
              <a:ext uri="{FF2B5EF4-FFF2-40B4-BE49-F238E27FC236}">
                <a16:creationId xmlns:a16="http://schemas.microsoft.com/office/drawing/2014/main" id="{B65F7A07-2F47-4A5C-8D80-65E28076123E}"/>
              </a:ext>
            </a:extLst>
          </p:cNvPr>
          <p:cNvSpPr>
            <a:spLocks noGrp="1"/>
          </p:cNvSpPr>
          <p:nvPr/>
        </p:nvSpPr>
        <p:spPr>
          <a:xfrm>
            <a:off x="3971925" y="2505075"/>
            <a:ext cx="1409700" cy="1571625"/>
          </a:xfrm>
          <a:prstGeom prst="rect">
            <a:avLst/>
          </a:prstGeom>
          <a:solidFill>
            <a:srgbClr val="EAF0F2"/>
          </a:solidFill>
          <a:ln w="9525">
            <a:solidFill>
              <a:srgbClr val="167C78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75FF2F0-0CCB-447D-8697-6627FEDE5363}"/>
              </a:ext>
            </a:extLst>
          </p:cNvPr>
          <p:cNvSpPr>
            <a:spLocks noGrp="1"/>
          </p:cNvSpPr>
          <p:nvPr/>
        </p:nvSpPr>
        <p:spPr>
          <a:xfrm>
            <a:off x="4057650" y="27813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MaxPool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D3E347A-4E6B-4C8D-A353-6463239DF943}"/>
              </a:ext>
            </a:extLst>
          </p:cNvPr>
          <p:cNvSpPr>
            <a:spLocks noGrp="1"/>
          </p:cNvSpPr>
          <p:nvPr/>
        </p:nvSpPr>
        <p:spPr>
          <a:xfrm>
            <a:off x="4048125" y="3248025"/>
            <a:ext cx="1257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2×2</a:t>
            </a:r>
          </a:p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14×14×32</a:t>
            </a: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375B2CC9-BA49-4AA7-B6FA-79E5B2B81A76}"/>
              </a:ext>
            </a:extLst>
          </p:cNvPr>
          <p:cNvSpPr>
            <a:spLocks noGrp="1"/>
          </p:cNvSpPr>
          <p:nvPr/>
        </p:nvSpPr>
        <p:spPr>
          <a:xfrm>
            <a:off x="5429250" y="3171825"/>
            <a:ext cx="180975" cy="209550"/>
          </a:xfrm>
          <a:prstGeom prst="rightArrow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19" name="layer-4">
            <a:extLst>
              <a:ext uri="{FF2B5EF4-FFF2-40B4-BE49-F238E27FC236}">
                <a16:creationId xmlns:a16="http://schemas.microsoft.com/office/drawing/2014/main" id="{9115975E-C2FE-46BB-B122-84841E109AAD}"/>
              </a:ext>
            </a:extLst>
          </p:cNvPr>
          <p:cNvSpPr>
            <a:spLocks noGrp="1"/>
          </p:cNvSpPr>
          <p:nvPr/>
        </p:nvSpPr>
        <p:spPr>
          <a:xfrm>
            <a:off x="5648325" y="2505075"/>
            <a:ext cx="1409700" cy="1571625"/>
          </a:xfrm>
          <a:prstGeom prst="rect">
            <a:avLst/>
          </a:prstGeom>
          <a:solidFill>
            <a:srgbClr val="E6F1EE"/>
          </a:solidFill>
          <a:ln w="9525">
            <a:solidFill>
              <a:srgbClr val="167C78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9C0FDC3-DE84-4E73-B456-053B18D91F80}"/>
              </a:ext>
            </a:extLst>
          </p:cNvPr>
          <p:cNvSpPr>
            <a:spLocks noGrp="1"/>
          </p:cNvSpPr>
          <p:nvPr/>
        </p:nvSpPr>
        <p:spPr>
          <a:xfrm>
            <a:off x="5734050" y="27813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Conv2D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B8FF9E5-AEB1-4161-A1B7-49FFB2E76C3B}"/>
              </a:ext>
            </a:extLst>
          </p:cNvPr>
          <p:cNvSpPr>
            <a:spLocks noGrp="1"/>
          </p:cNvSpPr>
          <p:nvPr/>
        </p:nvSpPr>
        <p:spPr>
          <a:xfrm>
            <a:off x="5724525" y="3248025"/>
            <a:ext cx="1257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64 filtros</a:t>
            </a:r>
          </a:p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3×3 · ReLU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58B193ED-E918-4970-990F-C9C99684CE7D}"/>
              </a:ext>
            </a:extLst>
          </p:cNvPr>
          <p:cNvSpPr>
            <a:spLocks noGrp="1"/>
          </p:cNvSpPr>
          <p:nvPr/>
        </p:nvSpPr>
        <p:spPr>
          <a:xfrm>
            <a:off x="7105650" y="3171825"/>
            <a:ext cx="180975" cy="209550"/>
          </a:xfrm>
          <a:prstGeom prst="rightArrow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23" name="layer-5">
            <a:extLst>
              <a:ext uri="{FF2B5EF4-FFF2-40B4-BE49-F238E27FC236}">
                <a16:creationId xmlns:a16="http://schemas.microsoft.com/office/drawing/2014/main" id="{5CB4B459-E413-448B-A927-C617D31D9DFD}"/>
              </a:ext>
            </a:extLst>
          </p:cNvPr>
          <p:cNvSpPr>
            <a:spLocks noGrp="1"/>
          </p:cNvSpPr>
          <p:nvPr/>
        </p:nvSpPr>
        <p:spPr>
          <a:xfrm>
            <a:off x="7324725" y="2505075"/>
            <a:ext cx="1409700" cy="1571625"/>
          </a:xfrm>
          <a:prstGeom prst="rect">
            <a:avLst/>
          </a:prstGeom>
          <a:solidFill>
            <a:srgbClr val="EAF0F2"/>
          </a:solidFill>
          <a:ln w="9525">
            <a:solidFill>
              <a:srgbClr val="167C78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82FD82E-7E33-42FC-BE71-F44D65EBFE81}"/>
              </a:ext>
            </a:extLst>
          </p:cNvPr>
          <p:cNvSpPr>
            <a:spLocks noGrp="1"/>
          </p:cNvSpPr>
          <p:nvPr/>
        </p:nvSpPr>
        <p:spPr>
          <a:xfrm>
            <a:off x="7410450" y="27813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MaxPool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49C03B2-78E5-4FDD-B473-AE844A13C1D7}"/>
              </a:ext>
            </a:extLst>
          </p:cNvPr>
          <p:cNvSpPr>
            <a:spLocks noGrp="1"/>
          </p:cNvSpPr>
          <p:nvPr/>
        </p:nvSpPr>
        <p:spPr>
          <a:xfrm>
            <a:off x="7400925" y="3248025"/>
            <a:ext cx="1257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2×2</a:t>
            </a:r>
          </a:p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7×7×64</a:t>
            </a: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DB9B80D4-882D-4CBF-A58B-B8052739C20B}"/>
              </a:ext>
            </a:extLst>
          </p:cNvPr>
          <p:cNvSpPr>
            <a:spLocks noGrp="1"/>
          </p:cNvSpPr>
          <p:nvPr/>
        </p:nvSpPr>
        <p:spPr>
          <a:xfrm>
            <a:off x="8782050" y="3171825"/>
            <a:ext cx="180975" cy="209550"/>
          </a:xfrm>
          <a:prstGeom prst="rightArrow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27" name="layer-6">
            <a:extLst>
              <a:ext uri="{FF2B5EF4-FFF2-40B4-BE49-F238E27FC236}">
                <a16:creationId xmlns:a16="http://schemas.microsoft.com/office/drawing/2014/main" id="{BBDE6A32-1B88-43C3-AA75-959FC12CC99F}"/>
              </a:ext>
            </a:extLst>
          </p:cNvPr>
          <p:cNvSpPr>
            <a:spLocks noGrp="1"/>
          </p:cNvSpPr>
          <p:nvPr/>
        </p:nvSpPr>
        <p:spPr>
          <a:xfrm>
            <a:off x="9001125" y="2505075"/>
            <a:ext cx="1409700" cy="1571625"/>
          </a:xfrm>
          <a:prstGeom prst="rect">
            <a:avLst/>
          </a:prstGeom>
          <a:solidFill>
            <a:srgbClr val="E6F1EE"/>
          </a:solidFill>
          <a:ln w="9525">
            <a:solidFill>
              <a:srgbClr val="167C78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DD87D2A-DFCC-41E5-BB26-558FCCB263CE}"/>
              </a:ext>
            </a:extLst>
          </p:cNvPr>
          <p:cNvSpPr>
            <a:spLocks noGrp="1"/>
          </p:cNvSpPr>
          <p:nvPr/>
        </p:nvSpPr>
        <p:spPr>
          <a:xfrm>
            <a:off x="9086850" y="27813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Flatten + Dense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6EC3F9D-DB86-422B-A916-C6D14D76781A}"/>
              </a:ext>
            </a:extLst>
          </p:cNvPr>
          <p:cNvSpPr>
            <a:spLocks noGrp="1"/>
          </p:cNvSpPr>
          <p:nvPr/>
        </p:nvSpPr>
        <p:spPr>
          <a:xfrm>
            <a:off x="9077325" y="3248025"/>
            <a:ext cx="1257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64 · ReLU</a:t>
            </a:r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8DEA313A-1967-4686-B0A1-1CAFF2CCD28A}"/>
              </a:ext>
            </a:extLst>
          </p:cNvPr>
          <p:cNvSpPr>
            <a:spLocks noGrp="1"/>
          </p:cNvSpPr>
          <p:nvPr/>
        </p:nvSpPr>
        <p:spPr>
          <a:xfrm>
            <a:off x="10458450" y="3171825"/>
            <a:ext cx="180975" cy="209550"/>
          </a:xfrm>
          <a:prstGeom prst="rightArrow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1" name="layer-7">
            <a:extLst>
              <a:ext uri="{FF2B5EF4-FFF2-40B4-BE49-F238E27FC236}">
                <a16:creationId xmlns:a16="http://schemas.microsoft.com/office/drawing/2014/main" id="{AC4F7C3F-B746-457F-9F8E-351D76E3BF6E}"/>
              </a:ext>
            </a:extLst>
          </p:cNvPr>
          <p:cNvSpPr>
            <a:spLocks noGrp="1"/>
          </p:cNvSpPr>
          <p:nvPr/>
        </p:nvSpPr>
        <p:spPr>
          <a:xfrm>
            <a:off x="10677525" y="2505075"/>
            <a:ext cx="1409700" cy="1571625"/>
          </a:xfrm>
          <a:prstGeom prst="rect">
            <a:avLst/>
          </a:prstGeom>
          <a:solidFill>
            <a:srgbClr val="F6EBDD"/>
          </a:solidFill>
          <a:ln w="9525">
            <a:solidFill>
              <a:srgbClr val="D18A35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A36E2DC-CF26-4BA7-95F2-D1F243003443}"/>
              </a:ext>
            </a:extLst>
          </p:cNvPr>
          <p:cNvSpPr>
            <a:spLocks noGrp="1"/>
          </p:cNvSpPr>
          <p:nvPr/>
        </p:nvSpPr>
        <p:spPr>
          <a:xfrm>
            <a:off x="10763250" y="27813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Salida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A1C1888-F321-48FD-A268-FB8E5C08E8F1}"/>
              </a:ext>
            </a:extLst>
          </p:cNvPr>
          <p:cNvSpPr>
            <a:spLocks noGrp="1"/>
          </p:cNvSpPr>
          <p:nvPr/>
        </p:nvSpPr>
        <p:spPr>
          <a:xfrm>
            <a:off x="10753725" y="3248025"/>
            <a:ext cx="1257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5 · Softmax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655D44C-7700-49DC-AB91-F400E0130053}"/>
              </a:ext>
            </a:extLst>
          </p:cNvPr>
          <p:cNvSpPr>
            <a:spLocks noGrp="1"/>
          </p:cNvSpPr>
          <p:nvPr/>
        </p:nvSpPr>
        <p:spPr>
          <a:xfrm>
            <a:off x="704850" y="4543425"/>
            <a:ext cx="1076325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E4E0543-C7BC-4F8E-BC98-6BA473CAA37B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Adam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80BA73C-3483-4855-A642-D8C3B74BE3C3}"/>
              </a:ext>
            </a:extLst>
          </p:cNvPr>
          <p:cNvSpPr>
            <a:spLocks noGrp="1"/>
          </p:cNvSpPr>
          <p:nvPr/>
        </p:nvSpPr>
        <p:spPr>
          <a:xfrm>
            <a:off x="742950" y="5248275"/>
            <a:ext cx="2333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optimizador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91EC303-6429-47A1-9FE1-0F9BC65F170C}"/>
              </a:ext>
            </a:extLst>
          </p:cNvPr>
          <p:cNvSpPr>
            <a:spLocks noGrp="1"/>
          </p:cNvSpPr>
          <p:nvPr/>
        </p:nvSpPr>
        <p:spPr>
          <a:xfrm>
            <a:off x="3381375" y="4867275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4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Sparse categorical crossentropy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5B3FE9AE-177E-4827-8399-AB9F15BA5B46}"/>
              </a:ext>
            </a:extLst>
          </p:cNvPr>
          <p:cNvSpPr>
            <a:spLocks noGrp="1"/>
          </p:cNvSpPr>
          <p:nvPr/>
        </p:nvSpPr>
        <p:spPr>
          <a:xfrm>
            <a:off x="3381375" y="5248275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función de pérdida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A427DD0-5DD8-403B-BB95-6A69A4E007F6}"/>
              </a:ext>
            </a:extLst>
          </p:cNvPr>
          <p:cNvSpPr>
            <a:spLocks noGrp="1"/>
          </p:cNvSpPr>
          <p:nvPr/>
        </p:nvSpPr>
        <p:spPr>
          <a:xfrm>
            <a:off x="6524625" y="4867275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10 épocas · batch 32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D48ADF8-ACE1-4A7B-A0DD-05D02009A198}"/>
              </a:ext>
            </a:extLst>
          </p:cNvPr>
          <p:cNvSpPr>
            <a:spLocks noGrp="1"/>
          </p:cNvSpPr>
          <p:nvPr/>
        </p:nvSpPr>
        <p:spPr>
          <a:xfrm>
            <a:off x="6524625" y="5248275"/>
            <a:ext cx="2333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hiperparámetros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2C06806-B194-4E01-B769-33A7374DE5E2}"/>
              </a:ext>
            </a:extLst>
          </p:cNvPr>
          <p:cNvSpPr>
            <a:spLocks noGrp="1"/>
          </p:cNvSpPr>
          <p:nvPr/>
        </p:nvSpPr>
        <p:spPr>
          <a:xfrm>
            <a:off x="9305925" y="4867275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219.909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C5D90989-6B5C-473D-B2C7-68021A95A835}"/>
              </a:ext>
            </a:extLst>
          </p:cNvPr>
          <p:cNvSpPr>
            <a:spLocks noGrp="1"/>
          </p:cNvSpPr>
          <p:nvPr/>
        </p:nvSpPr>
        <p:spPr>
          <a:xfrm>
            <a:off x="9305925" y="5248275"/>
            <a:ext cx="2333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parámetros entrenables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BAD3738-9245-43E5-93C8-0A525B281EF9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1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1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1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Sin técnicas de regularización, según la indicación docente.</a:t>
            </a:r>
          </a:p>
        </p:txBody>
      </p:sp>
    </p:spTree>
    <p:extLst>
      <p:ext uri="{BB962C8B-B14F-4D97-AF65-F5344CB8AC3E}">
        <p14:creationId xmlns:p14="http://schemas.microsoft.com/office/powerpoint/2010/main" val="9393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FDAE3401-1EF6-4A95-B9DF-D7C50AB4179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Entrenamiento y resultado en prueba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E4B89B-F5CD-42FA-8245-07FB2A96596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28575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4D7C7D9-92A6-4189-AE9C-13CDDEC58AE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72E598-11B6-48B7-8001-C6F82BFA082B}"/>
              </a:ext>
            </a:extLst>
          </p:cNvPr>
          <p:cNvSpPr>
            <a:spLocks noGrp="1"/>
          </p:cNvSpPr>
          <p:nvPr/>
        </p:nvSpPr>
        <p:spPr>
          <a:xfrm>
            <a:off x="10572750" y="6486525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05 / 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5FAAC25-1D4B-4A78-8B80-A882B66BB722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87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La curva de validación llega a 100 % en la época 2; la prueba termina en 96,93 %.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60B0844-DD87-4042-B367-23149964A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2414375"/>
            <a:ext cx="6477000" cy="21245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32ACCE0-05E5-4C14-B33E-66ABABF2B266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Curvas de entrenamiento y validación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97263C6-63EB-4089-B4CB-9CDBF1F71178}"/>
              </a:ext>
            </a:extLst>
          </p:cNvPr>
          <p:cNvSpPr>
            <a:spLocks noGrp="1"/>
          </p:cNvSpPr>
          <p:nvPr/>
        </p:nvSpPr>
        <p:spPr>
          <a:xfrm>
            <a:off x="7620000" y="2333625"/>
            <a:ext cx="1762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96,93 %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B11A6B-39B3-4BC5-B37E-ACFAF164C087}"/>
              </a:ext>
            </a:extLst>
          </p:cNvPr>
          <p:cNvSpPr>
            <a:spLocks noGrp="1"/>
          </p:cNvSpPr>
          <p:nvPr/>
        </p:nvSpPr>
        <p:spPr>
          <a:xfrm>
            <a:off x="7620000" y="28860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Accuracy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90749C5-EB97-48D4-B49B-2DBC70409CF7}"/>
              </a:ext>
            </a:extLst>
          </p:cNvPr>
          <p:cNvSpPr>
            <a:spLocks noGrp="1"/>
          </p:cNvSpPr>
          <p:nvPr/>
        </p:nvSpPr>
        <p:spPr>
          <a:xfrm>
            <a:off x="9525000" y="2333625"/>
            <a:ext cx="1762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97,26 %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E34357E-7FFC-48C6-9F60-065BCD7A95C9}"/>
              </a:ext>
            </a:extLst>
          </p:cNvPr>
          <p:cNvSpPr>
            <a:spLocks noGrp="1"/>
          </p:cNvSpPr>
          <p:nvPr/>
        </p:nvSpPr>
        <p:spPr>
          <a:xfrm>
            <a:off x="9525000" y="28860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Precision macro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18536CB-71AC-44F4-BD16-EDE476EB26BD}"/>
              </a:ext>
            </a:extLst>
          </p:cNvPr>
          <p:cNvSpPr>
            <a:spLocks noGrp="1"/>
          </p:cNvSpPr>
          <p:nvPr/>
        </p:nvSpPr>
        <p:spPr>
          <a:xfrm>
            <a:off x="7620000" y="3476625"/>
            <a:ext cx="1762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95,93 %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503497B-97D5-47C5-8116-10BA093FBDCA}"/>
              </a:ext>
            </a:extLst>
          </p:cNvPr>
          <p:cNvSpPr>
            <a:spLocks noGrp="1"/>
          </p:cNvSpPr>
          <p:nvPr/>
        </p:nvSpPr>
        <p:spPr>
          <a:xfrm>
            <a:off x="7620000" y="40290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Recall macro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7E6613A-F4C9-4FAF-AA31-D4F2E9585342}"/>
              </a:ext>
            </a:extLst>
          </p:cNvPr>
          <p:cNvSpPr>
            <a:spLocks noGrp="1"/>
          </p:cNvSpPr>
          <p:nvPr/>
        </p:nvSpPr>
        <p:spPr>
          <a:xfrm>
            <a:off x="9525000" y="3476625"/>
            <a:ext cx="1762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96,33 %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55DC8BE-2D93-4E15-A037-C3A396D4F80F}"/>
              </a:ext>
            </a:extLst>
          </p:cNvPr>
          <p:cNvSpPr>
            <a:spLocks noGrp="1"/>
          </p:cNvSpPr>
          <p:nvPr/>
        </p:nvSpPr>
        <p:spPr>
          <a:xfrm>
            <a:off x="9525000" y="40290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F1-score macro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2BB7763-C789-40A8-83DF-CA15C353AB13}"/>
              </a:ext>
            </a:extLst>
          </p:cNvPr>
          <p:cNvSpPr>
            <a:spLocks noGrp="1"/>
          </p:cNvSpPr>
          <p:nvPr/>
        </p:nvSpPr>
        <p:spPr>
          <a:xfrm>
            <a:off x="7429500" y="4619625"/>
            <a:ext cx="381000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8C813D-2EEE-498E-AE91-0A852EED5CE5}"/>
              </a:ext>
            </a:extLst>
          </p:cNvPr>
          <p:cNvSpPr>
            <a:spLocks noGrp="1"/>
          </p:cNvSpPr>
          <p:nvPr/>
        </p:nvSpPr>
        <p:spPr>
          <a:xfrm>
            <a:off x="7858125" y="4857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9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9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1.579 / 1.629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E2662BC-2440-4817-B938-66838301952C}"/>
              </a:ext>
            </a:extLst>
          </p:cNvPr>
          <p:cNvSpPr>
            <a:spLocks noGrp="1"/>
          </p:cNvSpPr>
          <p:nvPr/>
        </p:nvSpPr>
        <p:spPr>
          <a:xfrm>
            <a:off x="7858125" y="52673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predicciones correctas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A1A4B9C-5F5B-49C2-A293-DCBF15286501}"/>
              </a:ext>
            </a:extLst>
          </p:cNvPr>
          <p:cNvSpPr>
            <a:spLocks noGrp="1"/>
          </p:cNvSpPr>
          <p:nvPr/>
        </p:nvSpPr>
        <p:spPr>
          <a:xfrm>
            <a:off x="7858125" y="57531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Tiempo registrado: 81,86 s</a:t>
            </a:r>
          </a:p>
        </p:txBody>
      </p:sp>
    </p:spTree>
    <p:extLst>
      <p:ext uri="{BB962C8B-B14F-4D97-AF65-F5344CB8AC3E}">
        <p14:creationId xmlns:p14="http://schemas.microsoft.com/office/powerpoint/2010/main" val="1876876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D790377F-1E4F-4855-A3D4-6693369126F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Errores de clasificación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83A7CD6-0489-403E-9AE0-5DA8F78713B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28575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80ADAC4-1412-4186-BE21-16B234543DF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92A083-7E86-48AA-AACC-0A923B206FC6}"/>
              </a:ext>
            </a:extLst>
          </p:cNvPr>
          <p:cNvSpPr>
            <a:spLocks noGrp="1"/>
          </p:cNvSpPr>
          <p:nvPr/>
        </p:nvSpPr>
        <p:spPr>
          <a:xfrm>
            <a:off x="10572750" y="6486525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06 / 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CB3537-E324-4CC2-8DEB-4ED63AE66E23}"/>
              </a:ext>
            </a:extLst>
          </p:cNvPr>
          <p:cNvSpPr>
            <a:spLocks noGrp="1"/>
          </p:cNvSpPr>
          <p:nvPr/>
        </p:nvSpPr>
        <p:spPr>
          <a:xfrm>
            <a:off x="723900" y="144780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0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0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La clase O concentra los 50 errores del conjunto de prueba.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CFF62ED-EB36-4F8C-B404-92C3F28F11F1}"/>
              </a:ext>
            </a:extLst>
          </p:cNvPr>
          <p:cNvGraphicFramePr/>
          <p:nvPr/>
        </p:nvGraphicFramePr>
        <p:xfrm>
          <a:off x="619125" y="2124075"/>
          <a:ext cx="5143500" cy="327660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Real / pred.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331</a:t>
                      </a:r>
                    </a:p>
                  </a:txBody>
                  <a:tcPr>
                    <a:solidFill>
                      <a:srgbClr val="E6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498</a:t>
                      </a:r>
                    </a:p>
                  </a:txBody>
                  <a:tcPr>
                    <a:solidFill>
                      <a:srgbClr val="E6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288</a:t>
                      </a:r>
                    </a:p>
                  </a:txBody>
                  <a:tcPr>
                    <a:solidFill>
                      <a:srgbClr val="E6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196</a:t>
                      </a:r>
                    </a:p>
                  </a:txBody>
                  <a:tcPr>
                    <a:solidFill>
                      <a:srgbClr val="E6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</a:t>
                      </a:r>
                    </a:p>
                  </a:txBody>
                  <a:tcPr>
                    <a:solidFill>
                      <a:srgbClr val="153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34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266</a:t>
                      </a:r>
                    </a:p>
                  </a:txBody>
                  <a:tcPr>
                    <a:solidFill>
                      <a:srgbClr val="E6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A1CC2CC4-0085-49E5-9BEE-53F892107E5F}"/>
              </a:ext>
            </a:extLst>
          </p:cNvPr>
          <p:cNvSpPr>
            <a:spLocks noGrp="1"/>
          </p:cNvSpPr>
          <p:nvPr/>
        </p:nvSpPr>
        <p:spPr>
          <a:xfrm>
            <a:off x="6496050" y="20478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D18A35"/>
                </a:solidFill>
                <a:latin typeface="Bitstream Charter"/>
                <a:ea typeface="Bitstream Charter"/>
                <a:cs typeface="Bitstream Charter"/>
              </a:rPr>
              <a:t>Real  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27B9549-B0E8-48C5-95A9-AD1DA95213AA}"/>
              </a:ext>
            </a:extLst>
          </p:cNvPr>
          <p:cNvSpPr>
            <a:spLocks noGrp="1"/>
          </p:cNvSpPr>
          <p:nvPr/>
        </p:nvSpPr>
        <p:spPr>
          <a:xfrm>
            <a:off x="8096250" y="20478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Predicción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EDE1970-90D0-401B-8323-34CE07CF4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38875" y="2457730"/>
            <a:ext cx="5334000" cy="221876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20AD9D8-BBDD-4FB7-8BB8-372103A87C34}"/>
              </a:ext>
            </a:extLst>
          </p:cNvPr>
          <p:cNvSpPr>
            <a:spLocks noGrp="1"/>
          </p:cNvSpPr>
          <p:nvPr/>
        </p:nvSpPr>
        <p:spPr>
          <a:xfrm>
            <a:off x="6496050" y="48577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4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Los ejemplos incorrectos muestran O predicha como A, E o I.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457F765-089F-44AB-87C8-EBA393FB8A40}"/>
              </a:ext>
            </a:extLst>
          </p:cNvPr>
          <p:cNvSpPr>
            <a:spLocks noGrp="1"/>
          </p:cNvSpPr>
          <p:nvPr/>
        </p:nvSpPr>
        <p:spPr>
          <a:xfrm>
            <a:off x="619125" y="5657850"/>
            <a:ext cx="514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5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Recall de O: 196 / 246 = 79,67 %</a:t>
            </a:r>
          </a:p>
        </p:txBody>
      </p:sp>
    </p:spTree>
    <p:extLst>
      <p:ext uri="{BB962C8B-B14F-4D97-AF65-F5344CB8AC3E}">
        <p14:creationId xmlns:p14="http://schemas.microsoft.com/office/powerpoint/2010/main" val="898672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108D9957-D700-4002-89F4-E164198213D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Comparación con el MLP de la E1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BAF64AC-1112-4F67-9D1A-C221AF2FD15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28575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04F515-CC1E-4A9E-8CB9-1005DA3B641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385C4EB-FE51-49AB-9015-2EC12A008D00}"/>
              </a:ext>
            </a:extLst>
          </p:cNvPr>
          <p:cNvSpPr>
            <a:spLocks noGrp="1"/>
          </p:cNvSpPr>
          <p:nvPr/>
        </p:nvSpPr>
        <p:spPr>
          <a:xfrm>
            <a:off x="10572750" y="6486525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07 / 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BD8DEA9-F118-451D-B4AB-2D4F5F43FA86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0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0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En prueba, la CNN mejora las cuatro métricas reportadas.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6D431146-3DA9-4E00-BD0E-E6C3D80AD0BA}"/>
              </a:ext>
            </a:extLst>
          </p:cNvPr>
          <p:cNvGraphicFramePr/>
          <p:nvPr/>
        </p:nvGraphicFramePr>
        <p:xfrm>
          <a:off x="523875" y="2038350"/>
          <a:ext cx="7096125" cy="363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4A905BFD-259B-4F9F-9FC6-FA1FD7D57152}"/>
              </a:ext>
            </a:extLst>
          </p:cNvPr>
          <p:cNvSpPr>
            <a:spLocks noGrp="1"/>
          </p:cNvSpPr>
          <p:nvPr/>
        </p:nvSpPr>
        <p:spPr>
          <a:xfrm>
            <a:off x="8001000" y="2143125"/>
            <a:ext cx="9525" cy="32194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8AB7DF7-CC39-4E42-BAB2-AD44AC1468A8}"/>
              </a:ext>
            </a:extLst>
          </p:cNvPr>
          <p:cNvSpPr>
            <a:spLocks noGrp="1"/>
          </p:cNvSpPr>
          <p:nvPr/>
        </p:nvSpPr>
        <p:spPr>
          <a:xfrm>
            <a:off x="8239125" y="2286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+3,50 pp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05B2221-1E4C-445F-B9F9-CFA00E25BF9B}"/>
              </a:ext>
            </a:extLst>
          </p:cNvPr>
          <p:cNvSpPr>
            <a:spLocks noGrp="1"/>
          </p:cNvSpPr>
          <p:nvPr/>
        </p:nvSpPr>
        <p:spPr>
          <a:xfrm>
            <a:off x="8239125" y="27622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accuracy de prueba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17F131-2427-42BC-B7BE-71417189E182}"/>
              </a:ext>
            </a:extLst>
          </p:cNvPr>
          <p:cNvSpPr>
            <a:spLocks noGrp="1"/>
          </p:cNvSpPr>
          <p:nvPr/>
        </p:nvSpPr>
        <p:spPr>
          <a:xfrm>
            <a:off x="8239125" y="32766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+4,07 pp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1B5645-B935-4356-B635-D4F20FF51925}"/>
              </a:ext>
            </a:extLst>
          </p:cNvPr>
          <p:cNvSpPr>
            <a:spLocks noGrp="1"/>
          </p:cNvSpPr>
          <p:nvPr/>
        </p:nvSpPr>
        <p:spPr>
          <a:xfrm>
            <a:off x="8239125" y="37528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F1 macro de prueba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8114CED-D104-453B-B503-3179BC73ABC6}"/>
              </a:ext>
            </a:extLst>
          </p:cNvPr>
          <p:cNvSpPr>
            <a:spLocks noGrp="1"/>
          </p:cNvSpPr>
          <p:nvPr/>
        </p:nvSpPr>
        <p:spPr>
          <a:xfrm>
            <a:off x="8239125" y="4343400"/>
            <a:ext cx="71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657D8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1" i="0">
                <a:solidFill>
                  <a:srgbClr val="657D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657D84"/>
                </a:solidFill>
                <a:latin typeface="Bitstream Charter"/>
                <a:ea typeface="Bitstream Charter"/>
                <a:cs typeface="Bitstream Charter"/>
              </a:rPr>
              <a:t>MLP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6AA693D-CE45-40B2-8CEA-CA6A3FFC900D}"/>
              </a:ext>
            </a:extLst>
          </p:cNvPr>
          <p:cNvSpPr>
            <a:spLocks noGrp="1"/>
          </p:cNvSpPr>
          <p:nvPr/>
        </p:nvSpPr>
        <p:spPr>
          <a:xfrm>
            <a:off x="8953500" y="43434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109.061 parámetros · 6,02 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5FE2D6C-7D40-41C0-BB2A-BB7988571D45}"/>
              </a:ext>
            </a:extLst>
          </p:cNvPr>
          <p:cNvSpPr>
            <a:spLocks noGrp="1"/>
          </p:cNvSpPr>
          <p:nvPr/>
        </p:nvSpPr>
        <p:spPr>
          <a:xfrm>
            <a:off x="8239125" y="4705350"/>
            <a:ext cx="71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CNN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22A8916-8930-4AAB-A70E-400A29C6496D}"/>
              </a:ext>
            </a:extLst>
          </p:cNvPr>
          <p:cNvSpPr>
            <a:spLocks noGrp="1"/>
          </p:cNvSpPr>
          <p:nvPr/>
        </p:nvSpPr>
        <p:spPr>
          <a:xfrm>
            <a:off x="8953500" y="47053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219.909 parámetros · 81,86 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3BC7A02-7E30-407A-8C61-4CC588CB0966}"/>
              </a:ext>
            </a:extLst>
          </p:cNvPr>
          <p:cNvSpPr>
            <a:spLocks noGrp="1"/>
          </p:cNvSpPr>
          <p:nvPr/>
        </p:nvSpPr>
        <p:spPr>
          <a:xfrm>
            <a:off x="8239125" y="5267325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La CNN usa Adam; el MLP, SGD. La comparación refleja ambas configuraciones.</a:t>
            </a:r>
          </a:p>
        </p:txBody>
      </p:sp>
    </p:spTree>
    <p:extLst>
      <p:ext uri="{BB962C8B-B14F-4D97-AF65-F5344CB8AC3E}">
        <p14:creationId xmlns:p14="http://schemas.microsoft.com/office/powerpoint/2010/main" val="110989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CB10F31A-FA97-44BF-B7D0-73E38DA4401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Feature Maps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E0F5D4-4C84-453E-9528-13315AA3260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28575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82F795-661D-4F8D-A5B2-841186026F17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EC14191-CF8D-4EE1-9B59-EE4317256D60}"/>
              </a:ext>
            </a:extLst>
          </p:cNvPr>
          <p:cNvSpPr>
            <a:spLocks noGrp="1"/>
          </p:cNvSpPr>
          <p:nvPr/>
        </p:nvSpPr>
        <p:spPr>
          <a:xfrm>
            <a:off x="10572750" y="6486525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08 / 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4A5297-21AA-4EC3-BFC8-8064DD9FE2BD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10715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9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9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Los filtros generan respuestas distintas ante una O mal clasificada como 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2A3280-B808-4B0B-8B48-D377F3206519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1000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Fila superior: Conv1 · 28 × 28     |     Fila inferior: Conv2 · 14 × 14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A28C511-DA66-4511-9647-73D6AA3F0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64411" y="2333625"/>
            <a:ext cx="9863178" cy="295275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E88436B-BA0F-4E10-967C-B94BF187CD59}"/>
              </a:ext>
            </a:extLst>
          </p:cNvPr>
          <p:cNvSpPr>
            <a:spLocks noGrp="1"/>
          </p:cNvSpPr>
          <p:nvPr/>
        </p:nvSpPr>
        <p:spPr>
          <a:xfrm>
            <a:off x="742950" y="5505450"/>
            <a:ext cx="10668000" cy="1905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E1A5491-F4E5-48F0-A900-E480570C9694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50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La segunda capa combina patrones más complejos en mapas espaciales más pequeños.</a:t>
            </a:r>
          </a:p>
        </p:txBody>
      </p:sp>
    </p:spTree>
    <p:extLst>
      <p:ext uri="{BB962C8B-B14F-4D97-AF65-F5344CB8AC3E}">
        <p14:creationId xmlns:p14="http://schemas.microsoft.com/office/powerpoint/2010/main" val="23161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D9AADD73-0096-411F-B1E6-1B0FC34C0C6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Grad-CAM y 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496ECE5-0F18-4ED7-9FC5-44773083780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28575"/>
          </a:xfrm>
          <a:prstGeom prst="rect">
            <a:avLst/>
          </a:prstGeom>
          <a:solidFill>
            <a:srgbClr val="167C78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A7226A1-C41F-4667-9E69-2A3572D3D8A5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5AA5DA-F710-4A28-BBF9-E810E1EC16F8}"/>
              </a:ext>
            </a:extLst>
          </p:cNvPr>
          <p:cNvSpPr>
            <a:spLocks noGrp="1"/>
          </p:cNvSpPr>
          <p:nvPr/>
        </p:nvSpPr>
        <p:spPr>
          <a:xfrm>
            <a:off x="10572750" y="6486525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r">
              <a:def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09 / 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3BC3C8-3BA7-4F4A-AC4D-47F6CE555429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676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87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Los ejemplos muestran regiones activadas para cada vocal.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BAA853-9604-4170-8946-2E6F05501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2368467"/>
            <a:ext cx="6953250" cy="159719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5E4464D-CA8D-4C6C-9335-DDAED02521A6}"/>
              </a:ext>
            </a:extLst>
          </p:cNvPr>
          <p:cNvSpPr>
            <a:spLocks noGrp="1"/>
          </p:cNvSpPr>
          <p:nvPr/>
        </p:nvSpPr>
        <p:spPr>
          <a:xfrm>
            <a:off x="723900" y="4562475"/>
            <a:ext cx="6715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800" b="1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La CNN mejora las métricas de prueba, pero requiere más parámetros y tiempo. La clase O sigue siendo la más difícil.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CB97632-9C26-4944-9BC3-892C224B5D82}"/>
              </a:ext>
            </a:extLst>
          </p:cNvPr>
          <p:cNvSpPr>
            <a:spLocks noGrp="1"/>
          </p:cNvSpPr>
          <p:nvPr/>
        </p:nvSpPr>
        <p:spPr>
          <a:xfrm>
            <a:off x="7858125" y="2000250"/>
            <a:ext cx="9525" cy="3543300"/>
          </a:xfrm>
          <a:prstGeom prst="rect">
            <a:avLst/>
          </a:prstGeom>
          <a:solidFill>
            <a:srgbClr val="D5DEDC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BE14425-19E3-4D6A-B225-2791F4AEA3C8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0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0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Conclusiones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4276D2-A331-4DC9-BA55-3A3AE855574E}"/>
              </a:ext>
            </a:extLst>
          </p:cNvPr>
          <p:cNvSpPr>
            <a:spLocks noGrp="1"/>
          </p:cNvSpPr>
          <p:nvPr/>
        </p:nvSpPr>
        <p:spPr>
          <a:xfrm>
            <a:off x="8286750" y="2647950"/>
            <a:ext cx="276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9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9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 i="0">
                <a:solidFill>
                  <a:srgbClr val="15323C"/>
                </a:solidFill>
                <a:latin typeface="Bitstream Charter"/>
                <a:ea typeface="Bitstream Charter"/>
                <a:cs typeface="Bitstream Charter"/>
              </a:rPr>
              <a:t>96,93 %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C6C3A94-466C-4602-85A3-47E4CF8B7C24}"/>
              </a:ext>
            </a:extLst>
          </p:cNvPr>
          <p:cNvSpPr>
            <a:spLocks noGrp="1"/>
          </p:cNvSpPr>
          <p:nvPr/>
        </p:nvSpPr>
        <p:spPr>
          <a:xfrm>
            <a:off x="8286750" y="31813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accuracy CNN en prueba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F20099F-6A57-4800-B30A-94A675913DF2}"/>
              </a:ext>
            </a:extLst>
          </p:cNvPr>
          <p:cNvSpPr>
            <a:spLocks noGrp="1"/>
          </p:cNvSpPr>
          <p:nvPr/>
        </p:nvSpPr>
        <p:spPr>
          <a:xfrm>
            <a:off x="8286750" y="36671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3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23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0E5E5B"/>
                </a:solidFill>
                <a:latin typeface="Bitstream Charter"/>
                <a:ea typeface="Bitstream Charter"/>
                <a:cs typeface="Bitstream Charter"/>
              </a:rPr>
              <a:t>+3,50 pp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B91C9A7-803F-4B94-AE73-3796EF41A095}"/>
              </a:ext>
            </a:extLst>
          </p:cNvPr>
          <p:cNvSpPr>
            <a:spLocks noGrp="1"/>
          </p:cNvSpPr>
          <p:nvPr/>
        </p:nvSpPr>
        <p:spPr>
          <a:xfrm>
            <a:off x="8286750" y="4095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66C"/>
                </a:solidFill>
                <a:latin typeface="Bitstream Charter"/>
                <a:ea typeface="Bitstream Charter"/>
                <a:cs typeface="Bitstream Charter"/>
              </a:rPr>
              <a:t>frente al MLP en accuracy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2CAD127-AE17-45B8-971C-7A7BED4CC2ED}"/>
              </a:ext>
            </a:extLst>
          </p:cNvPr>
          <p:cNvSpPr>
            <a:spLocks noGrp="1"/>
          </p:cNvSpPr>
          <p:nvPr/>
        </p:nvSpPr>
        <p:spPr>
          <a:xfrm>
            <a:off x="8286750" y="4695825"/>
            <a:ext cx="304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l">
              <a:def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1B343D"/>
                </a:solidFill>
                <a:latin typeface="Bitstream Charter"/>
                <a:ea typeface="Bitstream Charter"/>
                <a:cs typeface="Bitstream Charter"/>
              </a:rPr>
              <a:t>Sin regularización, según indicación docente. MLP con SGD y CNN con Adam.</a:t>
            </a:r>
          </a:p>
        </p:txBody>
      </p:sp>
    </p:spTree>
    <p:extLst>
      <p:ext uri="{BB962C8B-B14F-4D97-AF65-F5344CB8AC3E}">
        <p14:creationId xmlns:p14="http://schemas.microsoft.com/office/powerpoint/2010/main" val="2044350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Panorámica</PresentationFormat>
  <Slides>9</Slides>
  <Notes>9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8</cp:revision>
  <dcterms:created xsi:type="dcterms:W3CDTF">2026-10-12T20:41:49Z</dcterms:created>
  <dcterms:modified xsi:type="dcterms:W3CDTF">2026-10-12T23:49:12Z</dcterms:modified>
</cp:coreProperties>
</file>